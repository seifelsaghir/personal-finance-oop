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73" autoAdjust="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C2F8C305-2005-843D-3437-61CCE0D53C96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rgbClr val="1C273A"/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73250" y="2258568"/>
            <a:ext cx="776065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273A"/>
                </a:solidFill>
              </a:defRPr>
            </a:pPr>
            <a:r>
              <a:rPr sz="5400" b="1" dirty="0">
                <a:solidFill>
                  <a:schemeClr val="bg2"/>
                </a:solidFill>
              </a:rPr>
              <a:t>Personal Finance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3940" y="3310128"/>
            <a:ext cx="70462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76EBE"/>
                </a:solidFill>
              </a:defRPr>
            </a:pPr>
            <a:r>
              <a:rPr sz="2800" b="1" dirty="0">
                <a:solidFill>
                  <a:srgbClr val="00B0F0"/>
                </a:solidFill>
              </a:rPr>
              <a:t>OOP Project • Python • </a:t>
            </a:r>
            <a:r>
              <a:rPr sz="2800" b="1" dirty="0" err="1">
                <a:solidFill>
                  <a:srgbClr val="00B0F0"/>
                </a:solidFill>
              </a:rPr>
              <a:t>CustomTkinter</a:t>
            </a:r>
            <a:r>
              <a:rPr sz="2800" b="1" dirty="0">
                <a:solidFill>
                  <a:srgbClr val="00B0F0"/>
                </a:solidFill>
              </a:rPr>
              <a:t> •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9611" y="6446520"/>
            <a:ext cx="250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E78"/>
                </a:solidFill>
              </a:defRPr>
            </a:pPr>
            <a:r>
              <a:rPr b="1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9C6AD806-1DC6-E119-7C0E-BC377F79553A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19556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1. What does the project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sz="2400" b="1" dirty="0"/>
              <a:t>• Manages personal income and expenses.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sz="2400" b="1" dirty="0"/>
              <a:t>• Organizes expenses using categories.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sz="2400" b="1" dirty="0"/>
              <a:t>• Creates monthly budgets and tracks spending.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sz="2400" b="1" dirty="0"/>
              <a:t>• Provides search, filtering, balance and monthly summaries.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sz="2400" b="1" dirty="0"/>
              <a:t>• Stores data locally in a JSON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D2FFB337-C351-F9E1-A1C6-6202ACDA1C11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2. Main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394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User → manages the user's account(s).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Account → contains transactions and calculates balance.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Transaction → abstract parent class.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Income / Expense → specialized transaction types.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Category → organizes expenses.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Budget → stores category, month and spending limit.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</a:t>
            </a:r>
            <a:r>
              <a:rPr sz="2400" b="1" dirty="0" err="1"/>
              <a:t>FinanceManager</a:t>
            </a:r>
            <a:r>
              <a:rPr sz="2400" b="1" dirty="0"/>
              <a:t> → handles the main business logic.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b="1" dirty="0"/>
              <a:t>• </a:t>
            </a:r>
            <a:r>
              <a:rPr sz="2400" b="1" dirty="0" err="1"/>
              <a:t>FileManager</a:t>
            </a:r>
            <a:r>
              <a:rPr sz="2400" b="1" dirty="0"/>
              <a:t> → saves and loads JSON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825847E-297F-FE74-5BF6-78EE46459B2D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t>3. How the system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9705" y="1033044"/>
            <a:ext cx="10698480" cy="3566160"/>
          </a:xfrm>
          <a:prstGeom prst="roundRect">
            <a:avLst/>
          </a:prstGeom>
          <a:solidFill>
            <a:srgbClr val="1C273A"/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8305" y="1215924"/>
            <a:ext cx="8680581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Consolas"/>
              </a:defRPr>
            </a:pPr>
            <a:r>
              <a:rPr sz="2400" b="1" dirty="0"/>
              <a:t>GUI</a:t>
            </a:r>
            <a:br>
              <a:rPr sz="2400" b="1" dirty="0"/>
            </a:br>
            <a:r>
              <a:rPr sz="2400" b="1" dirty="0"/>
              <a:t>  ↓</a:t>
            </a:r>
            <a:br>
              <a:rPr sz="2400" b="1" dirty="0"/>
            </a:br>
            <a:r>
              <a:rPr sz="2400" b="1" dirty="0" err="1"/>
              <a:t>FinanceManager</a:t>
            </a:r>
            <a:br>
              <a:rPr sz="2400" b="1" dirty="0"/>
            </a:br>
            <a:r>
              <a:rPr sz="2400" b="1" dirty="0"/>
              <a:t>  ↓</a:t>
            </a:r>
            <a:br>
              <a:rPr sz="2400" b="1" dirty="0"/>
            </a:br>
            <a:r>
              <a:rPr sz="2400" b="1" dirty="0"/>
              <a:t>Models (User, Account, Income, Expense, Budget...)</a:t>
            </a:r>
            <a:br>
              <a:rPr sz="2400" b="1" dirty="0"/>
            </a:br>
            <a:r>
              <a:rPr sz="2400" b="1" dirty="0"/>
              <a:t>  ↓</a:t>
            </a:r>
            <a:br>
              <a:rPr sz="2400" b="1" dirty="0"/>
            </a:br>
            <a:r>
              <a:rPr sz="2400" b="1" dirty="0" err="1"/>
              <a:t>FileManager</a:t>
            </a:r>
            <a:br>
              <a:rPr sz="2400" b="1" dirty="0"/>
            </a:br>
            <a:r>
              <a:rPr sz="2400" b="1" dirty="0"/>
              <a:t>  ↓</a:t>
            </a:r>
            <a:br>
              <a:rPr sz="2400" b="1" dirty="0"/>
            </a:br>
            <a:r>
              <a:rPr sz="2400" b="1" dirty="0" err="1"/>
              <a:t>finance_data.json</a:t>
            </a:r>
            <a:endParaRPr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94005" y="4750963"/>
            <a:ext cx="1046988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rPr sz="1600" b="1" dirty="0"/>
              <a:t>• GUI calls the business layer instead of directly managing stored data.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rPr sz="1600" b="1" dirty="0"/>
              <a:t>• </a:t>
            </a:r>
            <a:r>
              <a:rPr sz="1600" b="1" dirty="0" err="1"/>
              <a:t>FinanceManager</a:t>
            </a:r>
            <a:r>
              <a:rPr sz="1600" b="1" dirty="0"/>
              <a:t> coordinates the models.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rPr sz="1600" b="1" dirty="0"/>
              <a:t>• </a:t>
            </a:r>
            <a:r>
              <a:rPr sz="1600" b="1" dirty="0" err="1"/>
              <a:t>FileManager</a:t>
            </a:r>
            <a:r>
              <a:rPr sz="1600" b="1" dirty="0"/>
              <a:t> keeps JSON storage separate.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A873E85-C486-3906-C06C-A049509AB969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4. OOP: Abstraction + Inheritance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98480" cy="3696614"/>
          </a:xfrm>
          <a:prstGeom prst="roundRect">
            <a:avLst/>
          </a:prstGeom>
          <a:solidFill>
            <a:srgbClr val="1C273A"/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0599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b="1" dirty="0"/>
              <a:t>class Transaction(ABC):</a:t>
            </a:r>
            <a:br>
              <a:rPr b="1" dirty="0"/>
            </a:br>
            <a:r>
              <a:rPr b="1" dirty="0"/>
              <a:t>    @abstractmethod</a:t>
            </a:r>
            <a:br>
              <a:rPr b="1" dirty="0"/>
            </a:br>
            <a:r>
              <a:rPr b="1" dirty="0"/>
              <a:t>    def </a:t>
            </a:r>
            <a:r>
              <a:rPr b="1" dirty="0" err="1"/>
              <a:t>signed_amount</a:t>
            </a:r>
            <a:r>
              <a:rPr b="1" dirty="0"/>
              <a:t>(self):</a:t>
            </a:r>
            <a:br>
              <a:rPr b="1" dirty="0"/>
            </a:br>
            <a:r>
              <a:rPr b="1" dirty="0"/>
              <a:t>        pass</a:t>
            </a:r>
            <a:br>
              <a:rPr b="1" dirty="0"/>
            </a:br>
            <a:br>
              <a:rPr b="1" dirty="0"/>
            </a:br>
            <a:r>
              <a:rPr b="1" dirty="0"/>
              <a:t>class Income(Transaction):</a:t>
            </a:r>
            <a:br>
              <a:rPr b="1" dirty="0"/>
            </a:br>
            <a:r>
              <a:rPr b="1" dirty="0"/>
              <a:t>    def </a:t>
            </a:r>
            <a:r>
              <a:rPr b="1" dirty="0" err="1"/>
              <a:t>signed_amount</a:t>
            </a:r>
            <a:r>
              <a:rPr b="1" dirty="0"/>
              <a:t>(self):</a:t>
            </a:r>
            <a:br>
              <a:rPr b="1" dirty="0"/>
            </a:br>
            <a:r>
              <a:rPr b="1" dirty="0"/>
              <a:t>        return </a:t>
            </a:r>
            <a:r>
              <a:rPr b="1" dirty="0" err="1"/>
              <a:t>self.amount</a:t>
            </a:r>
            <a:br>
              <a:rPr b="1" dirty="0"/>
            </a:br>
            <a:br>
              <a:rPr b="1" dirty="0"/>
            </a:br>
            <a:r>
              <a:rPr b="1" dirty="0"/>
              <a:t>class Expense(Transaction):</a:t>
            </a:r>
            <a:br>
              <a:rPr b="1" dirty="0"/>
            </a:br>
            <a:r>
              <a:rPr b="1" dirty="0"/>
              <a:t>    def </a:t>
            </a:r>
            <a:r>
              <a:rPr b="1" dirty="0" err="1"/>
              <a:t>signed_amount</a:t>
            </a:r>
            <a:r>
              <a:rPr b="1" dirty="0"/>
              <a:t>(self):</a:t>
            </a:r>
            <a:br>
              <a:rPr b="1" dirty="0"/>
            </a:br>
            <a:r>
              <a:rPr b="1" dirty="0"/>
              <a:t>        return -</a:t>
            </a:r>
            <a:r>
              <a:rPr b="1" dirty="0" err="1"/>
              <a:t>self.amount</a:t>
            </a:r>
            <a:endParaRPr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05840" y="5150510"/>
            <a:ext cx="1060704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sz="1600" b="1" dirty="0"/>
              <a:t>• Transaction defines common behavior without being directly created.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sz="1600" b="1" dirty="0"/>
              <a:t>• Income and Expense inherit from Transaction.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sz="1600" b="1" dirty="0"/>
              <a:t>• Different </a:t>
            </a:r>
            <a:r>
              <a:rPr sz="1600" b="1" dirty="0" err="1"/>
              <a:t>signed_amount</a:t>
            </a:r>
            <a:r>
              <a:rPr sz="1600" b="1" dirty="0"/>
              <a:t>() implementations demonstrate polymorphism.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AD497F5-42DB-C592-DCF1-5AEF411FD7CC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5. Example: Adding an Expense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10698480" cy="3161489"/>
          </a:xfrm>
          <a:prstGeom prst="roundRect">
            <a:avLst/>
          </a:prstGeom>
          <a:solidFill>
            <a:srgbClr val="1C273A"/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7141699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sz="1600" b="1" dirty="0"/>
              <a:t>def </a:t>
            </a:r>
            <a:r>
              <a:rPr sz="1600" b="1" dirty="0" err="1"/>
              <a:t>add_expense</a:t>
            </a:r>
            <a:r>
              <a:rPr sz="1600" b="1" dirty="0"/>
              <a:t>(self, amount, date, category, description=""):</a:t>
            </a:r>
            <a:br>
              <a:rPr sz="1600" b="1" dirty="0"/>
            </a:br>
            <a:r>
              <a:rPr sz="1600" b="1" dirty="0"/>
              <a:t>    if not </a:t>
            </a:r>
            <a:r>
              <a:rPr sz="1600" b="1" dirty="0" err="1"/>
              <a:t>self.category_exists</a:t>
            </a:r>
            <a:r>
              <a:rPr sz="1600" b="1" dirty="0"/>
              <a:t>(category):</a:t>
            </a:r>
            <a:br>
              <a:rPr sz="1600" b="1" dirty="0"/>
            </a:br>
            <a:r>
              <a:rPr sz="1600" b="1" dirty="0"/>
              <a:t>        raise </a:t>
            </a:r>
            <a:r>
              <a:rPr sz="1600" b="1" dirty="0" err="1"/>
              <a:t>ValueError</a:t>
            </a:r>
            <a:r>
              <a:rPr sz="1600" b="1" dirty="0"/>
              <a:t>("Category does not exist.")</a:t>
            </a:r>
            <a:br>
              <a:rPr sz="1600" b="1" dirty="0"/>
            </a:br>
            <a:br>
              <a:rPr sz="1600" b="1" dirty="0"/>
            </a:br>
            <a:r>
              <a:rPr sz="1600" b="1" dirty="0"/>
              <a:t>    expense = Expense(</a:t>
            </a:r>
            <a:br>
              <a:rPr sz="1600" b="1" dirty="0"/>
            </a:br>
            <a:r>
              <a:rPr sz="1600" b="1" dirty="0"/>
              <a:t>        </a:t>
            </a:r>
            <a:r>
              <a:rPr sz="1600" b="1" dirty="0" err="1"/>
              <a:t>self.get_next_transaction_id</a:t>
            </a:r>
            <a:r>
              <a:rPr sz="1600" b="1" dirty="0"/>
              <a:t>(),</a:t>
            </a:r>
            <a:br>
              <a:rPr sz="1600" b="1" dirty="0"/>
            </a:br>
            <a:r>
              <a:rPr sz="1600" b="1" dirty="0"/>
              <a:t>        amount, date, category, description</a:t>
            </a:r>
            <a:br>
              <a:rPr sz="1600" b="1" dirty="0"/>
            </a:br>
            <a:r>
              <a:rPr sz="1600" b="1" dirty="0"/>
              <a:t>    )</a:t>
            </a:r>
            <a:br>
              <a:rPr sz="1600" b="1" dirty="0"/>
            </a:br>
            <a:r>
              <a:rPr sz="1600" b="1" dirty="0"/>
              <a:t>    </a:t>
            </a:r>
            <a:r>
              <a:rPr sz="1600" b="1" dirty="0" err="1"/>
              <a:t>self.account.add_transaction</a:t>
            </a:r>
            <a:r>
              <a:rPr sz="1600" b="1" dirty="0"/>
              <a:t>(expense)</a:t>
            </a:r>
            <a:br>
              <a:rPr sz="1600" b="1" dirty="0"/>
            </a:br>
            <a:r>
              <a:rPr sz="1600" b="1" dirty="0"/>
              <a:t>    </a:t>
            </a:r>
            <a:r>
              <a:rPr sz="1600" b="1" dirty="0" err="1"/>
              <a:t>self.save_data</a:t>
            </a:r>
            <a:r>
              <a:rPr sz="1600" b="1" dirty="0"/>
              <a:t>()</a:t>
            </a:r>
            <a:br>
              <a:rPr sz="1600" b="1" dirty="0"/>
            </a:br>
            <a:r>
              <a:rPr sz="1600" b="1" dirty="0"/>
              <a:t>    return expense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30959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rPr sz="1600" b="1" dirty="0"/>
              <a:t>• Validate → create object → add to account → save to 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950ADBA-62D7-5302-F02E-CCD5C3B2B065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6. Creational Design Patterns: Are they used?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b="1" dirty="0"/>
              <a:t>• Singleton ❌ Not implemented — the code does not restrict a class to one instance.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b="1" dirty="0"/>
              <a:t>• Factory ❌ Not implemented — objects are created directly with Income(...), Expense(...), Budget(...).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b="1" dirty="0"/>
              <a:t>• Builder ❌ Not implemented — objects use normal constructors.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b="1" dirty="0"/>
              <a:t>• Abstract Factory ❌ Not implemented — there is no factory producing related object families.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b="1" dirty="0"/>
              <a:t>• Abstract Class / Abstraction ✅ Used — Transaction is an abstract base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40680"/>
            <a:ext cx="10515600" cy="658368"/>
          </a:xfrm>
          <a:prstGeom prst="roundRect">
            <a:avLst/>
          </a:prstGeom>
          <a:solidFill>
            <a:srgbClr val="E7F1FB"/>
          </a:solidFill>
          <a:ln>
            <a:solidFill>
              <a:srgbClr val="37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559552"/>
            <a:ext cx="82659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3A"/>
                </a:solidFill>
              </a:defRPr>
            </a:pPr>
            <a:r>
              <a:rPr sz="1600" dirty="0"/>
              <a:t>Important: Abstract Class is an OOP concept, not the </a:t>
            </a:r>
            <a:r>
              <a:rPr sz="1600" dirty="0" err="1"/>
              <a:t>GoF</a:t>
            </a:r>
            <a:r>
              <a:rPr sz="1600" dirty="0"/>
              <a:t> “Abstract Factory” creational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08274489-9CBC-346A-02C6-7D15AE2EC900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7. Other Design / Architecture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000" b="1" dirty="0"/>
              <a:t>• Layered architecture: GUI → </a:t>
            </a:r>
            <a:r>
              <a:rPr sz="2000" b="1" dirty="0" err="1"/>
              <a:t>FinanceManager</a:t>
            </a:r>
            <a:r>
              <a:rPr sz="2000" b="1" dirty="0"/>
              <a:t> → Models / </a:t>
            </a:r>
            <a:r>
              <a:rPr sz="2000" b="1" dirty="0" err="1"/>
              <a:t>FileManager</a:t>
            </a:r>
            <a:r>
              <a:rPr sz="2000" b="1"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000" b="1" dirty="0"/>
              <a:t>• </a:t>
            </a:r>
            <a:r>
              <a:rPr sz="2000" b="1" dirty="0" err="1"/>
              <a:t>FinanceManager</a:t>
            </a:r>
            <a:r>
              <a:rPr sz="2000" b="1" dirty="0"/>
              <a:t> has a Facade-like role by exposing simple operations to the GUI.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000" b="1" dirty="0"/>
              <a:t>• </a:t>
            </a:r>
            <a:r>
              <a:rPr sz="2000" b="1" dirty="0" err="1"/>
              <a:t>FileManager</a:t>
            </a:r>
            <a:r>
              <a:rPr sz="2000" b="1" dirty="0"/>
              <a:t> is a repository/data-access style component for JSON persistence.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000" b="1" dirty="0"/>
              <a:t>• Composition: User contains Accounts; Account contains Transactions.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000" b="1" dirty="0"/>
              <a:t>• Polymorphism: Income and Expense implement Transaction behavior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80A4A7E4-4B1A-0AF5-BCDA-AD7F8F57E4BD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8. Business Rules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b="1" dirty="0"/>
              <a:t>• Transaction amount must be greater than 0.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b="1" dirty="0"/>
              <a:t>• Expense must have a category.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b="1" dirty="0"/>
              <a:t>• Budget amount cannot be negative.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b="1" dirty="0"/>
              <a:t>• Dates must use YYYY-MM-DD.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b="1" dirty="0"/>
              <a:t>• Duplicate categories are prevented.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b="1" dirty="0"/>
              <a:t>• A category used by an expense cannot be deleted.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572000"/>
            <a:ext cx="10698480" cy="1051560"/>
          </a:xfrm>
          <a:prstGeom prst="roundRect">
            <a:avLst/>
          </a:prstGeom>
          <a:solidFill>
            <a:srgbClr val="1C273A"/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739817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rPr b="1" dirty="0"/>
              <a:t>if amount &lt;= 0:</a:t>
            </a:r>
            <a:br>
              <a:rPr b="1" dirty="0"/>
            </a:br>
            <a:r>
              <a:rPr b="1" dirty="0"/>
              <a:t>    raise </a:t>
            </a:r>
            <a:r>
              <a:rPr b="1" dirty="0" err="1"/>
              <a:t>ValueError</a:t>
            </a:r>
            <a:r>
              <a:rPr b="1" dirty="0"/>
              <a:t>("Transaction amount must be positive.")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13A5747-B377-A16F-A9DF-D58439985926}"/>
              </a:ext>
            </a:extLst>
          </p:cNvPr>
          <p:cNvSpPr/>
          <p:nvPr/>
        </p:nvSpPr>
        <p:spPr>
          <a:xfrm>
            <a:off x="530352" y="183548"/>
            <a:ext cx="10981943" cy="65091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83563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C273A"/>
                </a:solidFill>
              </a:defRPr>
            </a:pPr>
            <a:r>
              <a:rPr dirty="0"/>
              <a:t>9. Final Project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9705" y="1124599"/>
            <a:ext cx="10698480" cy="3694176"/>
          </a:xfrm>
          <a:prstGeom prst="roundRect">
            <a:avLst/>
          </a:prstGeom>
          <a:solidFill>
            <a:srgbClr val="1C273A"/>
          </a:solidFill>
          <a:ln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8305" y="1307479"/>
            <a:ext cx="7802136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rPr sz="2000" b="1" dirty="0"/>
              <a:t>User adds income / expense</a:t>
            </a:r>
            <a:br>
              <a:rPr sz="2000" b="1" dirty="0"/>
            </a:br>
            <a:r>
              <a:rPr sz="2000" b="1" dirty="0"/>
              <a:t>          ↓</a:t>
            </a:r>
            <a:br>
              <a:rPr sz="2000" b="1" dirty="0"/>
            </a:br>
            <a:r>
              <a:rPr sz="2000" b="1" dirty="0" err="1"/>
              <a:t>FinanceManager</a:t>
            </a:r>
            <a:r>
              <a:rPr sz="2000" b="1" dirty="0"/>
              <a:t> validates it</a:t>
            </a:r>
            <a:br>
              <a:rPr sz="2000" b="1" dirty="0"/>
            </a:br>
            <a:r>
              <a:rPr sz="2000" b="1" dirty="0"/>
              <a:t>          ↓</a:t>
            </a:r>
            <a:br>
              <a:rPr sz="2000" b="1" dirty="0"/>
            </a:br>
            <a:r>
              <a:rPr sz="2000" b="1" dirty="0"/>
              <a:t>Object is created</a:t>
            </a:r>
            <a:br>
              <a:rPr sz="2000" b="1" dirty="0"/>
            </a:br>
            <a:r>
              <a:rPr sz="2000" b="1" dirty="0"/>
              <a:t>          ↓</a:t>
            </a:r>
            <a:br>
              <a:rPr sz="2000" b="1" dirty="0"/>
            </a:br>
            <a:r>
              <a:rPr sz="2000" b="1" dirty="0"/>
              <a:t>Account stores the transaction</a:t>
            </a:r>
            <a:br>
              <a:rPr sz="2000" b="1" dirty="0"/>
            </a:br>
            <a:r>
              <a:rPr sz="2000" b="1" dirty="0"/>
              <a:t>          ↓</a:t>
            </a:r>
            <a:br>
              <a:rPr sz="2000" b="1" dirty="0"/>
            </a:br>
            <a:r>
              <a:rPr sz="2000" b="1" dirty="0"/>
              <a:t>JSON file is updated</a:t>
            </a:r>
            <a:br>
              <a:rPr sz="2000" b="1" dirty="0"/>
            </a:br>
            <a:r>
              <a:rPr sz="2000" b="1" dirty="0"/>
              <a:t>          ↓</a:t>
            </a:r>
            <a:br>
              <a:rPr sz="2000" b="1" dirty="0"/>
            </a:br>
            <a:r>
              <a:rPr sz="2000" b="1" dirty="0"/>
              <a:t>Dashboard calculates balance / summary / budget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1967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rPr sz="1600" b="1" dirty="0"/>
              <a:t>• Main goal: clean separation of responsibilities and reusable OOP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732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Seif Wael</cp:lastModifiedBy>
  <cp:revision>2</cp:revision>
  <dcterms:created xsi:type="dcterms:W3CDTF">2013-01-27T09:14:16Z</dcterms:created>
  <dcterms:modified xsi:type="dcterms:W3CDTF">2026-10-06T13:19:35Z</dcterms:modified>
  <cp:category/>
</cp:coreProperties>
</file>